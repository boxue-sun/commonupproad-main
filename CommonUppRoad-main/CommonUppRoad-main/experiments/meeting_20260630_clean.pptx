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807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ISO 15622 ACC模型验证 + RL危险场景搜索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AED6F1"/>
                </a:solidFill>
              </a:defRPr>
            </a:pPr>
            <a:r>
              <a:t>从IDM到法规模型 + 实验验证 + 新想法探讨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474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5A5A6"/>
                </a:solidFill>
              </a:defRPr>
            </a:pPr>
            <a:r>
              <a:t>导师组会汇报  |  2026年6月30日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上次的问题 -&gt; 这次做了两件事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47548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</a:defRPr>
            </a:pPr>
            <a:r>
              <a:t>2/8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</a:defRPr>
            </a:pPr>
            <a:r>
              <a:t>上次的问题: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</a:defRPr>
            </a:pPr>
            <a:r>
              <a:t>  x IDM 模型没有反应延迟，立刻响应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</a:defRPr>
            </a:pPr>
            <a:r>
              <a:t>  x 加速度瞬间跳变 (0 -&gt; -19 m/s^2)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</a:defRPr>
            </a:pPr>
            <a:r>
              <a:t>  x 碰撞场景不现实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</a:defRPr>
            </a:pPr>
            <a:r>
              <a:t>这次做了两件事: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</a:defRPr>
            </a:pPr>
            <a:r>
              <a:t>第一件事 (已完成):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</a:defRPr>
            </a:pPr>
            <a:r>
              <a:t>  换模型 + 跑实验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</a:defRPr>
            </a:pPr>
            <a:r>
              <a:t>  IDM -&gt; ISO 15622 四模式ACC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</a:defRPr>
            </a:pPr>
            <a:r>
              <a:t>  重新跑 200变体 + 新增急刹实验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097280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</a:defRPr>
            </a:pPr>
            <a:r>
              <a:t>第二件事 (新想法):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</a:defRPr>
            </a:pPr>
            <a:r>
              <a:t>  RL 搜索参数空间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</a:defRPr>
            </a:pPr>
            <a:r>
              <a:t>  问题: 参数多了网格穷举行不通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</a:defRPr>
            </a:pPr>
            <a:r>
              <a:t>  想法: 让 RL Agent 学会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</a:defRPr>
            </a:pPr>
            <a:r>
              <a:t>  '什么参数容易碰撞'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</a:defRPr>
            </a:pPr>
            <a:r>
              <a:t>  今天重点: 讲第一件事的结果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</a:defRPr>
            </a:pPr>
            <a:r>
              <a:t>  然后说第二件事的想法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</a:defRPr>
            </a:pPr>
            <a:r>
              <a:t>  请老师帮把关方向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ISO 15622 四模式 ACC</a:t>
            </a:r>
          </a:p>
          <a:p>
            <a:pPr>
              <a:defRPr sz="1300">
                <a:solidFill>
                  <a:srgbClr val="AED6F1"/>
                </a:solidFill>
              </a:defRPr>
            </a:pPr>
            <a:r>
              <a:t>国际标准跟车模型，加了 1.5 秒反应延迟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47548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</a:defRPr>
            </a:pPr>
            <a:r>
              <a:t>3/8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920240" cy="1463040"/>
          </a:xfrm>
          <a:prstGeom prst="rect">
            <a:avLst/>
          </a:prstGeom>
          <a:solidFill>
            <a:srgbClr val="EAFAF1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B3A5C"/>
                </a:solidFill>
              </a:defRPr>
            </a:pPr>
            <a:r>
              <a:t>自由流</a:t>
            </a:r>
          </a:p>
          <a:p>
            <a:pPr algn="ctr">
              <a:defRPr sz="1100">
                <a:solidFill>
                  <a:srgbClr val="2C3E50"/>
                </a:solidFill>
              </a:defRPr>
            </a:pPr>
            <a:r>
              <a:t>前面没车</a:t>
            </a:r>
            <a:br/>
            <a:r>
              <a:t>-&gt; 加速到 30m/s</a:t>
            </a:r>
          </a:p>
        </p:txBody>
      </p:sp>
      <p:sp>
        <p:nvSpPr>
          <p:cNvPr id="5" name="Rectangle 4"/>
          <p:cNvSpPr/>
          <p:nvPr/>
        </p:nvSpPr>
        <p:spPr>
          <a:xfrm>
            <a:off x="2651760" y="1188720"/>
            <a:ext cx="1920240" cy="1463040"/>
          </a:xfrm>
          <a:prstGeom prst="rect">
            <a:avLst/>
          </a:prstGeom>
          <a:solidFill>
            <a:srgbClr val="FEF9E7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B3A5C"/>
                </a:solidFill>
              </a:defRPr>
            </a:pPr>
            <a:r>
              <a:t>接近</a:t>
            </a:r>
          </a:p>
          <a:p>
            <a:pPr algn="ctr">
              <a:defRPr sz="1100">
                <a:solidFill>
                  <a:srgbClr val="2C3E50"/>
                </a:solidFill>
              </a:defRPr>
            </a:pPr>
            <a:r>
              <a:t>前面有车但远</a:t>
            </a:r>
            <a:br/>
            <a:r>
              <a:t>-&gt; 慢慢减速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1188720"/>
            <a:ext cx="1920240" cy="1463040"/>
          </a:xfrm>
          <a:prstGeom prst="rect">
            <a:avLst/>
          </a:prstGeom>
          <a:solidFill>
            <a:srgbClr val="EBF5FB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B3A5C"/>
                </a:solidFill>
              </a:defRPr>
            </a:pPr>
            <a:r>
              <a:t>跟车</a:t>
            </a:r>
          </a:p>
          <a:p>
            <a:pPr algn="ctr">
              <a:defRPr sz="1100">
                <a:solidFill>
                  <a:srgbClr val="2C3E50"/>
                </a:solidFill>
              </a:defRPr>
            </a:pPr>
            <a:r>
              <a:t>保持 1.8s 车距</a:t>
            </a:r>
            <a:br/>
            <a:r>
              <a:t>-&gt; 稳速跟随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79" y="1188720"/>
            <a:ext cx="1920240" cy="1463040"/>
          </a:xfrm>
          <a:prstGeom prst="rect">
            <a:avLst/>
          </a:prstGeom>
          <a:solidFill>
            <a:srgbClr val="FDEDEC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B3A5C"/>
                </a:solidFill>
              </a:defRPr>
            </a:pPr>
            <a:r>
              <a:t>制动</a:t>
            </a:r>
          </a:p>
          <a:p>
            <a:pPr algn="ctr">
              <a:defRPr sz="1100">
                <a:solidFill>
                  <a:srgbClr val="2C3E50"/>
                </a:solidFill>
              </a:defRPr>
            </a:pPr>
            <a:r>
              <a:t>太近了!</a:t>
            </a:r>
            <a:br/>
            <a:r>
              <a:t>-&gt; 急刹 -6m/s^2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和 IDM 的最大区别: 反应延迟 1.5 秒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IDM = 注意力超级集中的老司机，前车一有动作立刻反应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ISO 15622 = 开了 ACC 的普通司机，检测到危险后 1.5 秒才开始刹车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1.5 秒在高速 (30m/s) 下 = 跑出去 45 米才开始刹！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实验1: 200变体碰撞热力图</a:t>
            </a:r>
          </a:p>
          <a:p>
            <a:pPr>
              <a:defRPr sz="1300">
                <a:solidFill>
                  <a:srgbClr val="AED6F1"/>
                </a:solidFill>
              </a:defRPr>
            </a:pPr>
            <a:r>
              <a:t>8距离 x 5前车速度 x 5ego速度 = 200次UPPAAL验证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47548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</a:defRPr>
            </a:pPr>
            <a:r>
              <a:t>4/8</a:t>
            </a:r>
          </a:p>
        </p:txBody>
      </p:sp>
      <p:pic>
        <p:nvPicPr>
          <p:cNvPr id="4" name="Picture 3" descr="heatmap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66928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1005840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</a:defRPr>
            </a:pPr>
            <a:r>
              <a:t>结果: 68/200 碰撞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</a:defRPr>
            </a:pPr>
            <a:r>
              <a:t>碰撞率: 34%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</a:defRPr>
            </a:pPr>
            <a:r>
              <a:t>安全边界在 15~20m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</a:defRPr>
            </a:pPr>
            <a:r>
              <a:t>三分区: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</a:defRPr>
            </a:pPr>
            <a:r>
              <a:t>&lt;=5m  必撞(100%)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</a:defRPr>
            </a:pPr>
            <a:r>
              <a:t>8-15m 高速才撞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</a:defRPr>
            </a:pPr>
            <a:r>
              <a:t>&gt;=20m 完全安全(0%)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实验2: 前车急刹场景</a:t>
            </a:r>
          </a:p>
          <a:p>
            <a:pPr>
              <a:defRPr sz="1300">
                <a:solidFill>
                  <a:srgbClr val="AED6F1"/>
                </a:solidFill>
              </a:defRPr>
            </a:pPr>
            <a:r>
              <a:t>ego和obs同速30m/s -&gt; obs在3s急刹 -&gt; ego 1.5s后反应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47548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</a:defRPr>
            </a:pPr>
            <a:r>
              <a:t>5/8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场景: ego 和 obs 都以 30m/s 行驶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     obs 突然急刹 -10 m/s^2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     ego 有 1.5s 反应延迟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结果: 22变体中 18个碰撞 (81.8%)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    即使舒适刹车(-4m/s^2)也撞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原因: 反应延迟 1.5 秒内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    ego 还在全速前进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    前车已经在减速了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18872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两个实验总结: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1. 正常跟车: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 20m以上绝对安全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2. 前车急刹: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 几乎是必撞场景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 1.5s反应延迟是主因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新问题: 参数多了怎么办?</a:t>
            </a:r>
          </a:p>
          <a:p>
            <a:pPr>
              <a:defRPr sz="1300">
                <a:solidFill>
                  <a:srgbClr val="AED6F1"/>
                </a:solidFill>
              </a:defRPr>
            </a:pPr>
            <a:r>
              <a:t>从网格穷举 -&gt; 智能搜索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47548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</a:defRPr>
            </a:pPr>
            <a:r>
              <a:t>6/8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目前实验只有 3 个参数 (距离, ego速度, obs速度) -&gt; 200 种组合，能穷举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但如果加入: 反应时间, 刹车强度, 切入角度, 路面摩擦...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3维 x 8值 = 512 种  -&gt; 能跑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4维 x 8值 = 4,096  -&gt; 勉强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5维 x 8值 = 32,768 -&gt; 跑不完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6维 x 8值 = 262,144 -&gt; 不可行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00400"/>
            <a:ext cx="7772400" cy="73152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74C3C"/>
                </a:solidFill>
              </a:defRPr>
            </a:pPr>
            <a:r>
              <a:t>想法: 不要让机器穷举，让机器学会 '什么参数容易碰撞'，优先搜那些区域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-&gt; 这就是强化学习要做的事: 把参数搜索变成一个学习问题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RL 设计: Agent 在参数空间中学会 '哪里危险'</a:t>
            </a:r>
          </a:p>
          <a:p>
            <a:pPr>
              <a:defRPr sz="1300">
                <a:solidFill>
                  <a:srgbClr val="AED6F1"/>
                </a:solidFill>
              </a:defRPr>
            </a:pPr>
            <a:r>
              <a:t>三个关键元素: 状态 / 动作 / 奖励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47548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</a:defRPr>
            </a:pPr>
            <a:r>
              <a:t>7/8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651760" cy="201168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B3A5C"/>
                </a:solidFill>
              </a:defRPr>
            </a:pPr>
            <a:r>
              <a:t>状态 (State)</a:t>
            </a:r>
          </a:p>
          <a:p>
            <a:pPr algn="ctr">
              <a:defRPr sz="1100">
                <a:solidFill>
                  <a:srgbClr val="2E86C1"/>
                </a:solidFill>
              </a:defRPr>
            </a:pPr>
            <a:r>
              <a:t>Agent 现在在哪?</a:t>
            </a:r>
          </a:p>
          <a:p>
            <a:br/>
            <a:pPr algn="ctr">
              <a:defRPr sz="1200">
                <a:solidFill>
                  <a:srgbClr val="2C3E50"/>
                </a:solidFill>
              </a:defRPr>
            </a:pPr>
            <a:r>
              <a:t>当前参数组合</a:t>
            </a:r>
            <a:br/>
            <a:r>
              <a:t>(距离, ego速度, obs速度)</a:t>
            </a:r>
            <a:br/>
            <a:r>
              <a:t>= 3D棋盘的坐标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0" y="1188720"/>
            <a:ext cx="2651760" cy="2011680"/>
          </a:xfrm>
          <a:prstGeom prst="rect">
            <a:avLst/>
          </a:prstGeom>
          <a:solidFill>
            <a:srgbClr val="EA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B3A5C"/>
                </a:solidFill>
              </a:defRPr>
            </a:pPr>
            <a:r>
              <a:t>动作 (Action)</a:t>
            </a:r>
          </a:p>
          <a:p>
            <a:pPr algn="ctr">
              <a:defRPr sz="1100">
                <a:solidFill>
                  <a:srgbClr val="2E86C1"/>
                </a:solidFill>
              </a:defRPr>
            </a:pPr>
            <a:r>
              <a:t>Agent 往哪走?</a:t>
            </a:r>
          </a:p>
          <a:p>
            <a:br/>
            <a:pPr algn="ctr">
              <a:defRPr sz="1200">
                <a:solidFill>
                  <a:srgbClr val="2C3E50"/>
                </a:solidFill>
              </a:defRPr>
            </a:pPr>
            <a:r>
              <a:t>6种:</a:t>
            </a:r>
            <a:br/>
            <a:r>
              <a:t>距离+1, 距离-1,</a:t>
            </a:r>
            <a:br/>
            <a:r>
              <a:t>ego+1, ego-1,</a:t>
            </a:r>
            <a:br/>
            <a:r>
              <a:t>obs+1, obs-1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188720"/>
            <a:ext cx="2651760" cy="201168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B3A5C"/>
                </a:solidFill>
              </a:defRPr>
            </a:pPr>
            <a:r>
              <a:t>奖励 (Reward)</a:t>
            </a:r>
          </a:p>
          <a:p>
            <a:pPr algn="ctr">
              <a:defRPr sz="1100">
                <a:solidFill>
                  <a:srgbClr val="2E86C1"/>
                </a:solidFill>
              </a:defRPr>
            </a:pPr>
            <a:r>
              <a:t>走对了还是错了?</a:t>
            </a:r>
          </a:p>
          <a:p>
            <a:br/>
            <a:pPr algn="ctr">
              <a:defRPr sz="1200">
                <a:solidFill>
                  <a:srgbClr val="2C3E50"/>
                </a:solidFill>
              </a:defRPr>
            </a:pPr>
            <a:r>
              <a:t>碰撞 -&gt; +10</a:t>
            </a:r>
            <a:br/>
            <a:r>
              <a:t>安全 -&gt; -1</a:t>
            </a:r>
            <a:br/>
            <a:r>
              <a:t>重复 -&gt; -0.5 (别打转)</a:t>
            </a:r>
          </a:p>
        </p:txBody>
      </p:sp>
      <p:pic>
        <p:nvPicPr>
          <p:cNvPr id="7" name="Picture 6" descr="trai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74720"/>
            <a:ext cx="5029200" cy="1554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347472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C3E50"/>
                </a:solidFill>
              </a:defRPr>
            </a:pPr>
            <a:r>
              <a:t>训练曲线:</a:t>
            </a:r>
          </a:p>
          <a:p>
            <a:pPr>
              <a:spcAft>
                <a:spcPts val="800"/>
              </a:spcAft>
              <a:defRPr sz="1200">
                <a:solidFill>
                  <a:srgbClr val="2C3E50"/>
                </a:solidFill>
              </a:defRPr>
            </a:pPr>
            <a:r>
              <a:t>上: 奖励一直在涨 -&gt;</a:t>
            </a:r>
          </a:p>
          <a:p>
            <a:pPr>
              <a:spcAft>
                <a:spcPts val="800"/>
              </a:spcAft>
              <a:defRPr sz="1200">
                <a:solidFill>
                  <a:srgbClr val="2C3E50"/>
                </a:solidFill>
              </a:defRPr>
            </a:pPr>
            <a:r>
              <a:t>    Agent 确实在学</a:t>
            </a:r>
          </a:p>
          <a:p>
            <a:pPr>
              <a:spcAft>
                <a:spcPts val="800"/>
              </a:spcAft>
              <a:defRPr sz="1200">
                <a:solidFill>
                  <a:srgbClr val="2C3E50"/>
                </a:solidFill>
              </a:defRPr>
            </a:pPr>
            <a:r>
              <a:t>下: 碰撞数在增加 -&gt;</a:t>
            </a:r>
          </a:p>
          <a:p>
            <a:pPr>
              <a:spcAft>
                <a:spcPts val="800"/>
              </a:spcAft>
              <a:defRPr sz="1200">
                <a:solidFill>
                  <a:srgbClr val="2C3E50"/>
                </a:solidFill>
              </a:defRPr>
            </a:pPr>
            <a:r>
              <a:t>    效率越来越高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47548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</a:defRPr>
            </a:pPr>
            <a:r>
              <a:t>8/8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请老师帮我看方向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目前状态: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RL是离线的 -&gt; Agent从已有200变体数据里学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验证了 'RL能学会碰撞规律' (训练曲线在涨)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我想做的: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改成在线 -&gt; Agent直接调UPPAAL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在更大的、未知的参数空间里搜索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参数越多，优势越明显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想请老师帮我看: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1. 这个方向对不对? 值不值得做?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2. 继续Q-learning还是换DQN/贝叶斯优化?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3. 有推荐的RL算法或论文吗?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