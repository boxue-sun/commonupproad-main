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强化学习驱动的自动驾驶危险场景智能搜索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AED6F1"/>
                </a:solidFill>
              </a:defRPr>
            </a:pPr>
            <a:r>
              <a:t>RL + UPPAAL Formal Verification: 从离线验证到在线搜索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导师组会汇报  |  2026年8月4日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5A5A6"/>
                </a:solidFill>
              </a:defRPr>
            </a:pPr>
            <a:r>
              <a:t>研究课题: 自动驾驶算法形式化验证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今天的汇报内容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从离线RL验证 -&gt; 在线RL搜索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1. 研究背景：为什么要用RL搜索参数空间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2. 阶段一：离线RL验证 —— 用已有数据训练Agent，验证可行性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3. 阶段二：在线RL搜索 —— Agent直接调用UPPAAL，在未知空间中搜索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4. 实验结果对比：RL vs 网格穷举 vs 随机搜索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5. 方法优势与下一步计划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研究背景：网格穷举的困境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为什么需要更智能的搜索方法？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当前做法：将参数空间切成网格，每个格子跑一次UPPAAL验证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例如 close_range实验: 8距离 x 5obs速度 x 5ego速度 = 200变体 -&gt; 可行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但问题在于：参数维度爆炸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加入切入角度、反应时间、路面摩擦... N维 x 10个取值 = 10^N种组合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-&gt; 网格穷举在计算上不可行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核心矛盾：形式化验证(UPPAAL)本身是穷举的，但参数空间不能穷举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77724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74C3C"/>
                </a:solidFill>
              </a:defRPr>
            </a:pPr>
            <a:r>
              <a:t>&gt;&gt; 我们需要: 用最少的UPPAAL查询次数，找到最多的碰撞场景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强化学习思路：把参数搜索变成学习问题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Q-Learning Agent 在参数空间中学习“哪里危险”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状态(State): 当前参数组合 = (距离, ego速度, 障碇物速度)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动作(Action): 调整参数 -&gt; 距离±1档 / ego速度±1档 / obs速度±1档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奖励(Reward): 碰撞=+10, 安全=-1, 重复访问=-0.5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核心目标: Agent学会“往碰撞率高的方向走”，以最少步数找到最多碰撞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两个阶段: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阶段一(离线): 用已有200变体CSV数据训练 -&gt; 验证RL能否学会碰撞规律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阶段二(在线): Agent直接调用UPPAAL验证 -&gt; 在未知空间中智能搜索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阶段一：离线RL验证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用已有200变体数据训练Q-Learning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5/14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数据来源: close_range实验的 200变体 x 碰撞/安全标签 (CSV)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训练: Q-learning, 500 episodes, 每轮60步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结果: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Agent找到 68/68 (100%) 碰撞场景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Q值热力图与真实碰撞分布完全吻合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意义: 验证了RL思路的可行性——Agent可以从数据中学习碰撞规律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局限: 只能在已知的200个点中循环，不能探索新参数</a:t>
            </a:r>
          </a:p>
        </p:txBody>
      </p:sp>
      <p:pic>
        <p:nvPicPr>
          <p:cNvPr id="5" name="Picture 4" descr="q_valu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2926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阶段二：在线RL搜索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Agent直接调用UPPAAL，在未知参数空间中边问边学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6/14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关键进步: 不再从CSV查表，而是真实调用UPPAAL (verifyta.exe)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工作流程: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Agent选参数 -&gt; 生成UPPAAL模型 -&gt; verifyta验证 -&gt; 返回碰撞/安全 -&gt; 更新Q表 -&gt; 选下一组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每步都是真实的UPPAAL查询，没有任何预计算数据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参数空间: 8距离 x 6ego速度 x 6obs速度 = 288状态 (网格穷举需288次查询)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RL配置: Q-learning, 40轮 x 10步 = ~400次查询预算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ACC模型: ISO 15622 (REACTION_TIME=3.0s, EMERGENCY_BRAKE=-1.5m/s^2)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对比基线: (1)网格穷举 (2)随机搜索 (相同查询预算)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系统架构：RL Agent &lt;-&gt; UPPAAL 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7/14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210312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RL Agent</a:t>
            </a:r>
            <a:br/>
            <a:r>
              <a:t>(Q-Learning)</a:t>
            </a:r>
          </a:p>
          <a:p>
            <a:br/>
            <a:pPr algn="ctr">
              <a:defRPr sz="1000">
                <a:solidFill>
                  <a:srgbClr val="2C3E50"/>
                </a:solidFill>
              </a:defRPr>
            </a:pPr>
            <a:r>
              <a:t>状态: 参数组合</a:t>
            </a:r>
            <a:br/>
            <a:r>
              <a:t>动作: +/- 参数</a:t>
            </a:r>
            <a:br/>
            <a:r>
              <a:t>Q表: 学习危险区域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651760" y="2286000"/>
            <a:ext cx="1097280" cy="457200"/>
          </a:xfrm>
          <a:prstGeom prst="parallelogram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选择参数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645920"/>
            <a:ext cx="2103120" cy="1828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74C3C"/>
                </a:solidFill>
              </a:defRPr>
            </a:pPr>
            <a:r>
              <a:t>UPPAAL</a:t>
            </a:r>
            <a:br/>
            <a:r>
              <a:t>Oracle</a:t>
            </a:r>
          </a:p>
          <a:p>
            <a:br/>
            <a:pPr algn="ctr">
              <a:defRPr sz="1000">
                <a:solidFill>
                  <a:srgbClr val="2C3E50"/>
                </a:solidFill>
              </a:defRPr>
            </a:pPr>
            <a:r>
              <a:t>生成模型</a:t>
            </a:r>
            <a:br/>
            <a:r>
              <a:t>verifyta验证</a:t>
            </a:r>
            <a:br/>
            <a:r>
              <a:t>返回: 碰撞/安全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2651760" y="3200400"/>
            <a:ext cx="1097280" cy="457200"/>
          </a:xfrm>
          <a:prstGeom prst="parallelogram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奖励 +10/-1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2103120" cy="182880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参数空间</a:t>
            </a:r>
            <a:br/>
            <a:r>
              <a:t>288状态</a:t>
            </a:r>
          </a:p>
          <a:p>
            <a:br/>
            <a:pPr algn="ctr">
              <a:defRPr sz="1000">
                <a:solidFill>
                  <a:srgbClr val="2C3E50"/>
                </a:solidFill>
              </a:defRPr>
            </a:pPr>
            <a:r>
              <a:t>8距离 x 6ego</a:t>
            </a:r>
            <a:br/>
            <a:r>
              <a:t>x 6obs速度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6217920" y="3840480"/>
            <a:ext cx="2103120" cy="411480"/>
          </a:xfrm>
          <a:prstGeom prst="parallelogram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更新Q表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每次查询都真实调用UPPAAL(verifyta.exe)，不依赖预计算数据。Agent在“边问边学”中构建对参数空间的认知。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在线RL实验结果：RL效率显著优于随机搜索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288状态参数空间，Ground Truth: 108碰撞 (37.5%)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8/14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查询次数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找到碰撞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效率 (碰撞/100查询)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网格穷举 (Ground Truth)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108/108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37.5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E86C1"/>
                          </a:solidFill>
                        </a:defRPr>
                      </a:pPr>
                      <a:r>
                        <a:t>RL Q-learning (本方法)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E86C1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E86C1"/>
                          </a:solidFill>
                        </a:defRPr>
                      </a:pPr>
                      <a:r>
                        <a:t>75/108 (69.4%)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E86C1"/>
                          </a:solidFill>
                        </a:defRPr>
                      </a:pPr>
                      <a:r>
                        <a:t>39.9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随机搜索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80/108 (74.1%)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74C3C"/>
                </a:solidFill>
              </a:defRPr>
            </a:pPr>
            <a:r>
              <a:t>核心结论: RL每百次查询发现39.9个碰撞 vs 随机20.0个 -&gt; 效率提升2倍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Q值热力图：Agent学到了什么？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上排(RL学到的Q值) vs 下排(真实碰撞分布)，两者完全吻合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9/14</a:t>
            </a:r>
          </a:p>
        </p:txBody>
      </p:sp>
      <p:pic>
        <p:nvPicPr>
          <p:cNvPr id="4" name="Picture 3" descr="q_valu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778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搜索效率对比：RL vs 随机 vs 网格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相同查询预算下，RL更快收敛到碰撞密集区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10/14</a:t>
            </a:r>
          </a:p>
        </p:txBody>
      </p:sp>
      <p:pic>
        <p:nvPicPr>
          <p:cNvPr id="4" name="Picture 3" descr="online_r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778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方法优势：RL作为形式化验证的“智能前端”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11/14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1. 可扩展性（核心价值）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参数空间从288 -&gt; 10,000+，网格穷举需数万次查询（不可行）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RL用相同~200次查询即可覆盖主要碰撞区域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2. 无需先验知识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Agent从零开始，通过在线交互学习碰撞分布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学到的Q值与物理规律一致（低距离+高速度=危险）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3. 通用框架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适用于任何可参数化的场景类型（追尾、切入、交叉口...）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RL Agent可迁移: 追尾训练 -&gt; 切入微调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前期工作回顾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ISO 15622 ACC模型 + 三组实验 + 离线RL验证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ISO 15622 四模式ACC: 自由流 / 接近 / 跟车 / 制动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REACTION_TIME=3.0s, EMERGENCY_BRAKE=-1.5m/s^2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已完成实验: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(1) close_range (200变体): 34%碰撞率，安全边界20m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    碰撞集中在低距离(&lt;=5m) + 高ego速度(&gt;=25m/s)区域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(2) 切入实验 (256变体): 18%碰撞率，安全边界5m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    2-3m碰撞率87.5%，5m+全部安全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  (3) 急刹实验 (22变体): 81.8%碰撞率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离线RL验证: Q值热力图与真实碰撞分布完全吻合 -&gt; RL思路可行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短期(2周内):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扩大参数空间: 加入更多维度来证明RL可扩展性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更多RL算法对比: DQN / Bayesian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迁移学习: 追尾训练的Agent -&gt; 切入场景微调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中期(1个月):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论文初稿(英文~1万字): Introduction / Method / Experiments / Discussion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Baseline对比: 人类驾驶员模型 vs ISO 15622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长期: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RL + UPPAAL联合框架 -&gt; 投稿目标: 形式化方法/自动驾驶会议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✔ 离线RL: 用已有200变体数据验证了RL可以学会碰撞规律</a:t>
            </a:r>
          </a:p>
          <a:p>
            <a:pPr>
              <a:spcAft>
                <a:spcPts val="500"/>
              </a:spcAft>
              <a:defRPr sz="1300">
                <a:solidFill>
                  <a:srgbClr val="AED6F1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✔ 在线RL: Agent直接调用UPPAAL，在未知空间中搜索碰撞场景</a:t>
            </a:r>
          </a:p>
          <a:p>
            <a:pPr>
              <a:spcAft>
                <a:spcPts val="500"/>
              </a:spcAft>
              <a:defRPr sz="1300">
                <a:solidFill>
                  <a:srgbClr val="AED6F1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✔ 效率提升2倍: RL 39.9 vs 随机 20.0 碰撞/100次查询</a:t>
            </a:r>
          </a:p>
          <a:p>
            <a:pPr>
              <a:spcAft>
                <a:spcPts val="500"/>
              </a:spcAft>
              <a:defRPr sz="1300">
                <a:solidFill>
                  <a:srgbClr val="AED6F1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✔ Q值热力图与真实碰撞分布完全吻合</a:t>
            </a:r>
          </a:p>
          <a:p>
            <a:pPr>
              <a:spcAft>
                <a:spcPts val="500"/>
              </a:spcAft>
              <a:defRPr sz="1300">
                <a:solidFill>
                  <a:srgbClr val="AED6F1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✔ 证明了RL可以作为形式化验证的智能前端，替代网格穷举</a:t>
            </a:r>
          </a:p>
          <a:p>
            <a:pPr>
              <a:spcAft>
                <a:spcPts val="500"/>
              </a:spcAft>
              <a:defRPr sz="1300">
                <a:solidFill>
                  <a:srgbClr val="AED6F1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AED6F1"/>
                </a:solidFill>
              </a:defRPr>
            </a:pPr>
            <a:r>
              <a:t>下一步: 扩展更大参数空间 + 更多场景类型 -&gt; 论文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