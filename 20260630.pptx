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media" Target="../media/media2.mp4"/><Relationship Id="rId4" Type="http://schemas.openxmlformats.org/officeDocument/2006/relationships/video" Target="../media/media2.mp4"/><Relationship Id="rId3" Type="http://schemas.openxmlformats.org/officeDocument/2006/relationships/image" Target="../media/image1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microsoft.com/office/2007/relationships/media" Target="../media/media3.mp4"/><Relationship Id="rId1" Type="http://schemas.openxmlformats.org/officeDocument/2006/relationships/video" Target="../media/media3.mp4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microsoft.com/office/2007/relationships/media" Target="../media/media4.mp4"/><Relationship Id="rId1" Type="http://schemas.openxmlformats.org/officeDocument/2006/relationships/video" Target="../media/media4.mp4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99695" y="102870"/>
            <a:ext cx="11892280" cy="252920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800" b="0"/>
              <a:t>上次汇报中，我们用 IDM 智能驾驶员模型作为 ego 车的控制器，在近距离场景下做了 200 个变体的验证实验，两个问题：</a:t>
            </a:r>
            <a:endParaRPr lang="zh-CN" altLang="en-US" sz="1800" b="0"/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800" b="0"/>
              <a:t>第一，IDM 反应太快，不够真实；</a:t>
            </a:r>
            <a:endParaRPr lang="zh-CN" altLang="en-US" sz="1800" b="0"/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800" b="0"/>
              <a:t>第二，要找到"前车急刹"这种具体场景的碰撞。</a:t>
            </a:r>
            <a:endParaRPr lang="zh-CN" altLang="en-US" sz="1800" b="0"/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800" b="0"/>
              <a:t>这次我做了两件事：</a:t>
            </a:r>
            <a:endParaRPr lang="zh-CN" altLang="en-US" sz="1800" b="0"/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800" b="0"/>
              <a:t>1. 把 ego 车的控制器从 IDM 换成了法规驾驶员模型</a:t>
            </a:r>
            <a:r>
              <a:rPr lang="en-US" altLang="zh-CN" sz="1800" b="0"/>
              <a:t> </a:t>
            </a:r>
            <a:r>
              <a:rPr lang="zh-CN" altLang="en-US" sz="1800" b="0"/>
              <a:t>有模仿人类的反应的一个延迟时间</a:t>
            </a:r>
            <a:endParaRPr lang="zh-CN" altLang="en-US" sz="1800" b="0"/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800" b="0"/>
              <a:t>2. 设计了"前车紧急刹车"场景，测试法规模型能否避免碰撞</a:t>
            </a:r>
            <a:endParaRPr lang="zh-CN" altLang="en-US" sz="1800" b="0"/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800" b="0"/>
              <a:t>之前的</a:t>
            </a:r>
            <a:r>
              <a:rPr lang="en-US" altLang="zh-CN" sz="1800" b="0"/>
              <a:t>IDM</a:t>
            </a:r>
            <a:r>
              <a:rPr lang="zh-CN" altLang="en-US" sz="1800" b="0"/>
              <a:t>模型没有反应延迟</a:t>
            </a:r>
            <a:r>
              <a:rPr lang="en-US" altLang="zh-CN" sz="1800" b="0"/>
              <a:t> </a:t>
            </a:r>
            <a:r>
              <a:rPr lang="zh-CN" altLang="en-US" sz="1800" b="0"/>
              <a:t>立即响应、加速度瞬间跳变。只要前车的距离不是特别近</a:t>
            </a:r>
            <a:r>
              <a:rPr lang="en-US" altLang="zh-CN" sz="1800" b="0"/>
              <a:t> </a:t>
            </a:r>
            <a:r>
              <a:rPr lang="zh-CN" altLang="en-US" sz="1800" b="0"/>
              <a:t>都能反应过来不碰撞。</a:t>
            </a:r>
            <a:endParaRPr lang="zh-CN" altLang="en-US" sz="1800" b="0"/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800" b="0"/>
              <a:t>碰撞的场景也是前车行驶缓慢</a:t>
            </a:r>
            <a:r>
              <a:rPr lang="en-US" altLang="zh-CN" sz="1800" b="0"/>
              <a:t> </a:t>
            </a:r>
            <a:r>
              <a:rPr lang="zh-CN" altLang="en-US" sz="1800" b="0"/>
              <a:t>没有明显的减速。总之就是不太现实。</a:t>
            </a:r>
            <a:endParaRPr lang="zh-CN" altLang="en-US" sz="1800" b="0"/>
          </a:p>
          <a:p>
            <a:pPr algn="l">
              <a:lnSpc>
                <a:spcPct val="100000"/>
              </a:lnSpc>
              <a:buClrTx/>
              <a:buSzTx/>
              <a:buNone/>
            </a:pPr>
            <a:endParaRPr lang="zh-CN" altLang="en-US" sz="1800" b="0"/>
          </a:p>
        </p:txBody>
      </p:sp>
      <p:pic>
        <p:nvPicPr>
          <p:cNvPr id="6" name="QQ20260617-202541-HD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46685" y="3000375"/>
            <a:ext cx="6399530" cy="1300480"/>
          </a:xfrm>
          <a:prstGeom prst="rect">
            <a:avLst/>
          </a:prstGeom>
        </p:spPr>
      </p:pic>
      <p:pic>
        <p:nvPicPr>
          <p:cNvPr id="7" name="QQ20260617-202735-HD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9695" y="4816475"/>
            <a:ext cx="9029700" cy="19304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9695" y="2632075"/>
            <a:ext cx="9376410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 近距离碰撞：ego 25m/s + 前方 10m 静止障碍物 → 碰撞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3840" y="4524375"/>
            <a:ext cx="5784850" cy="414655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ts val="950"/>
              </a:lnSpc>
            </a:pPr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安全跟车</a:t>
            </a:r>
            <a:r>
              <a:rPr lang="zh-CN" altLang="en-US" sz="1800" b="0">
                <a:latin typeface="Arial" panose="020B0604020202020204" pitchFamily="34" charset="0"/>
                <a:ea typeface="微软雅黑" panose="020B0503020204020204" charset="-122"/>
              </a:rPr>
              <a:t>：ego 20m/s + 前方 50m → 安全跟随</a:t>
            </a:r>
            <a:endParaRPr lang="zh-CN" altLang="en-US" sz="1800" b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 fullScrn="0">
              <p:cMediaNode>
                <p:cTn id="3" fill="hold" display="1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5575" y="101600"/>
            <a:ext cx="11407775" cy="6412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ISO 15622 ACC 模型</a:t>
            </a:r>
            <a:endParaRPr lang="zh-CN" altLang="en-US"/>
          </a:p>
          <a:p>
            <a:endParaRPr lang="zh-CN" altLang="en-US" sz="1600"/>
          </a:p>
          <a:p>
            <a:pPr indent="457200"/>
            <a:r>
              <a:rPr lang="zh-CN" altLang="en-US" sz="1600"/>
              <a:t>ISO 15622 是国际标准化组织发布的《智能运输系统 自适应巡航控制(ACC)系统 性能要求与测试规程》，是全球最通用的跟车功能法规模准。</a:t>
            </a:r>
            <a:endParaRPr lang="zh-CN" altLang="en-US" sz="1600"/>
          </a:p>
          <a:p>
            <a:pPr indent="457200"/>
            <a:r>
              <a:rPr lang="zh-CN" altLang="en-US" sz="1600"/>
              <a:t>1. 自由流模式 (Free-flow)                       </a:t>
            </a:r>
            <a:endParaRPr lang="zh-CN" altLang="en-US" sz="1600"/>
          </a:p>
          <a:p>
            <a:pPr indent="457200"/>
            <a:r>
              <a:rPr lang="zh-CN" altLang="en-US" sz="1600"/>
              <a:t>│     触发：前方无车或距离 &gt; 80m                    </a:t>
            </a:r>
            <a:endParaRPr lang="zh-CN" altLang="en-US" sz="1600"/>
          </a:p>
          <a:p>
            <a:pPr indent="457200"/>
            <a:r>
              <a:rPr lang="zh-CN" altLang="en-US" sz="1600"/>
              <a:t>│     行为：加速到设定巡航速度 30 m/s               </a:t>
            </a:r>
            <a:endParaRPr lang="zh-CN" altLang="en-US" sz="1600"/>
          </a:p>
          <a:p>
            <a:pPr indent="457200"/>
            <a:r>
              <a:rPr lang="zh-CN" altLang="en-US" sz="1600"/>
              <a:t>├─────────────────────────────────────────────────</a:t>
            </a:r>
            <a:endParaRPr lang="zh-CN" altLang="en-US" sz="1600"/>
          </a:p>
          <a:p>
            <a:pPr indent="457200"/>
            <a:r>
              <a:rPr lang="zh-CN" altLang="en-US" sz="1600"/>
              <a:t>│  2. 接近模式 (Approach)                          </a:t>
            </a:r>
            <a:endParaRPr lang="zh-CN" altLang="en-US" sz="1600"/>
          </a:p>
          <a:p>
            <a:pPr indent="457200"/>
            <a:r>
              <a:rPr lang="zh-CN" altLang="en-US" sz="1600"/>
              <a:t>│     触发：80m &gt; 距离 &gt; 跟车距离+5m               </a:t>
            </a:r>
            <a:endParaRPr lang="zh-CN" altLang="en-US" sz="1600"/>
          </a:p>
          <a:p>
            <a:pPr indent="457200"/>
            <a:r>
              <a:rPr lang="zh-CN" altLang="en-US" sz="1600"/>
              <a:t>│     行为：线性减速，越近减得越多                   </a:t>
            </a:r>
            <a:endParaRPr lang="zh-CN" altLang="en-US" sz="1600"/>
          </a:p>
          <a:p>
            <a:pPr indent="457200"/>
            <a:r>
              <a:rPr lang="zh-CN" altLang="en-US" sz="1600"/>
              <a:t>├─────────────────────────────────────────────────</a:t>
            </a:r>
            <a:endParaRPr lang="zh-CN" altLang="en-US" sz="1600"/>
          </a:p>
          <a:p>
            <a:pPr indent="457200"/>
            <a:r>
              <a:rPr lang="zh-CN" altLang="en-US" sz="1600"/>
              <a:t>│  3. 跟车模式 (Following)                        </a:t>
            </a:r>
            <a:endParaRPr lang="zh-CN" altLang="en-US" sz="1600"/>
          </a:p>
          <a:p>
            <a:pPr indent="457200"/>
            <a:r>
              <a:rPr lang="zh-CN" altLang="en-US" sz="1600"/>
              <a:t>│     触发：跟车距离 &gt; 距离 &gt; 2m                    </a:t>
            </a:r>
            <a:endParaRPr lang="zh-CN" altLang="en-US" sz="1600"/>
          </a:p>
          <a:p>
            <a:pPr indent="457200"/>
            <a:r>
              <a:rPr lang="zh-CN" altLang="en-US" sz="1600"/>
              <a:t>│     行为：保持 1.8s 时距，P 控制器调节             </a:t>
            </a:r>
            <a:endParaRPr lang="zh-CN" altLang="en-US" sz="1600"/>
          </a:p>
          <a:p>
            <a:pPr indent="457200"/>
            <a:r>
              <a:rPr lang="zh-CN" altLang="en-US" sz="1600"/>
              <a:t>├─────────────────────────────────────────────────</a:t>
            </a:r>
            <a:endParaRPr lang="zh-CN" altLang="en-US" sz="1600"/>
          </a:p>
          <a:p>
            <a:pPr indent="457200"/>
            <a:r>
              <a:rPr lang="zh-CN" altLang="en-US" sz="1600"/>
              <a:t>│  4. 制动模式 (Braking)                           </a:t>
            </a:r>
            <a:endParaRPr lang="zh-CN" altLang="en-US" sz="1600"/>
          </a:p>
          <a:p>
            <a:pPr indent="457200"/>
            <a:r>
              <a:rPr lang="zh-CN" altLang="en-US" sz="1600"/>
              <a:t> </a:t>
            </a:r>
            <a:r>
              <a:rPr lang="en-US" altLang="zh-CN" sz="1600"/>
              <a:t>    </a:t>
            </a:r>
            <a:r>
              <a:rPr lang="zh-CN" altLang="en-US" sz="1600"/>
              <a:t>  触发：TTC &lt; 1.5s 或距离 &lt; 2m                 </a:t>
            </a:r>
            <a:endParaRPr lang="zh-CN" altLang="en-US" sz="1600"/>
          </a:p>
          <a:p>
            <a:pPr indent="457200"/>
            <a:r>
              <a:rPr lang="zh-CN" altLang="en-US" sz="1600"/>
              <a:t>│     行为：紧急制动 -6.0 m/s²      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5575" y="101600"/>
            <a:ext cx="10783570" cy="5711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| 参数 | 值 | 说明 |</a:t>
            </a:r>
            <a:endParaRPr lang="zh-CN" altLang="en-US"/>
          </a:p>
          <a:p>
            <a:r>
              <a:rPr lang="zh-CN" altLang="en-US"/>
              <a:t>|---|---|---|</a:t>
            </a:r>
            <a:endParaRPr lang="zh-CN" altLang="en-US"/>
          </a:p>
          <a:p>
            <a:r>
              <a:rPr lang="zh-CN" altLang="en-US"/>
              <a:t>| 巡航速度 | 30 m/s | 设定速度上限 |</a:t>
            </a:r>
            <a:endParaRPr lang="zh-CN" altLang="en-US"/>
          </a:p>
          <a:p>
            <a:r>
              <a:rPr lang="zh-CN" altLang="en-US"/>
              <a:t>| 时距 | 1.8s | 跟车保持的安全时间 |</a:t>
            </a:r>
            <a:endParaRPr lang="zh-CN" altLang="en-US"/>
          </a:p>
          <a:p>
            <a:r>
              <a:rPr lang="zh-CN" altLang="en-US"/>
              <a:t>| 最小间距 | 2.0m | 最近跟车距离 |</a:t>
            </a:r>
            <a:endParaRPr lang="zh-CN" altLang="en-US"/>
          </a:p>
          <a:p>
            <a:r>
              <a:rPr lang="zh-CN" altLang="en-US"/>
              <a:t>| 舒适减速度 | -2.0 m/s² | 正常跟车减速 |</a:t>
            </a:r>
            <a:endParaRPr lang="zh-CN" altLang="en-US"/>
          </a:p>
          <a:p>
            <a:r>
              <a:rPr lang="zh-CN" altLang="en-US"/>
              <a:t>| 紧急减速度 | -6.0 m/s² | 紧急制动 |</a:t>
            </a:r>
            <a:endParaRPr lang="zh-CN" altLang="en-US"/>
          </a:p>
          <a:p>
            <a:r>
              <a:rPr lang="zh-CN" altLang="en-US"/>
              <a:t>| 反应延迟 | 1.5s | 传感器+执行器延迟 |</a:t>
            </a:r>
            <a:endParaRPr lang="zh-CN" altLang="en-US"/>
          </a:p>
          <a:p>
            <a:r>
              <a:rPr lang="zh-CN" altLang="en-US"/>
              <a:t>**实验设置**：</a:t>
            </a:r>
            <a:endParaRPr lang="zh-CN" altLang="en-US"/>
          </a:p>
          <a:p>
            <a:r>
              <a:rPr lang="zh-CN" altLang="en-US"/>
              <a:t>- ego 和 obs 以 30 m/s 同速行驶</a:t>
            </a:r>
            <a:endParaRPr lang="zh-CN" altLang="en-US"/>
          </a:p>
          <a:p>
            <a:r>
              <a:rPr lang="zh-CN" altLang="en-US"/>
              <a:t>- obs 在 t=3s 时突然急刹 -10 m/s²</a:t>
            </a:r>
            <a:endParaRPr lang="zh-CN" altLang="en-US"/>
          </a:p>
          <a:p>
            <a:r>
              <a:rPr lang="zh-CN" altLang="en-US"/>
              <a:t>- ego 有 1.5s 反应延迟 + 渐进刹车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**结果**：</a:t>
            </a:r>
            <a:endParaRPr lang="zh-CN" altLang="en-US"/>
          </a:p>
          <a:p>
            <a:r>
              <a:rPr lang="zh-CN" altLang="en-US"/>
              <a:t>- ego 在 t=4.8s 追尾</a:t>
            </a:r>
            <a:endParaRPr lang="zh-CN" altLang="en-US"/>
          </a:p>
          <a:p>
            <a:r>
              <a:rPr lang="zh-CN" altLang="en-US"/>
              <a:t>- 碰撞时 ego 速度 30 m/s（完全没来得及刹车）</a:t>
            </a:r>
            <a:endParaRPr lang="zh-CN" altLang="en-US"/>
          </a:p>
        </p:txBody>
      </p:sp>
      <p:pic>
        <p:nvPicPr>
          <p:cNvPr id="3" name="QQ20260701-140111-HD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8425" y="4681220"/>
            <a:ext cx="10744200" cy="20116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QQ20260701-140306-HD">
            <a:hlinkClick r:id="" action="ppaction://media"/>
          </p:cNvPr>
          <p:cNvPicPr/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39115" y="1367452"/>
            <a:ext cx="10515600" cy="253972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92530" y="954405"/>
            <a:ext cx="1490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刹住的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1455" y="128905"/>
            <a:ext cx="11504930" cy="44856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112010" y="5021580"/>
            <a:ext cx="60960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>
                <a:sym typeface="+mn-ea"/>
              </a:rPr>
              <a:t>&gt;- 🔴 危险区 ≤ 5 米：几乎必撞</a:t>
            </a:r>
            <a:endParaRPr lang="zh-CN" altLang="en-US" sz="1800" b="0"/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>
                <a:sym typeface="+mn-ea"/>
              </a:rPr>
              <a:t>&gt;- 🟡 边界区 8-15 米：仅高速场景碰撞</a:t>
            </a:r>
            <a:endParaRPr lang="zh-CN" altLang="en-US" sz="1800" b="0"/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>
                <a:sym typeface="+mn-ea"/>
              </a:rPr>
              <a:t>&gt;- 🟢*安全区 ≥ 20 米：完全安全，0%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08610" y="267970"/>
            <a:ext cx="34486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RL</a:t>
            </a:r>
            <a:r>
              <a:rPr lang="zh-CN" altLang="en-US"/>
              <a:t>危险场景搜寻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04240" y="819150"/>
            <a:ext cx="106387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核心思路：</a:t>
            </a:r>
            <a:r>
              <a:t>把"参数搜索"变成一个强化学习问题。</a:t>
            </a:r>
          </a:p>
          <a:p>
            <a:r>
              <a:t>让一个 Agent 在参数空间中走来走去，每次走到一个新位置就调一次 UPPAAL 看会不会撞，然后根据结果更新自己的认知。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56615" y="2136775"/>
            <a:ext cx="872045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原来的方法：网格穷举，即把参数空间切成网格，每个格子跑一遍 UPPAAL 验证。</a:t>
            </a:r>
            <a:endParaRPr lang="zh-CN" altLang="en-US"/>
          </a:p>
          <a:p>
            <a:pPr marL="914400" lvl="2" indent="457200"/>
            <a:r>
              <a:rPr lang="zh-CN" altLang="en-US"/>
              <a:t>距离:    3, 5, 8, 10, 15, 20, 30, 50          (8个)</a:t>
            </a:r>
            <a:endParaRPr lang="zh-CN" altLang="en-US"/>
          </a:p>
          <a:p>
            <a:pPr marL="914400" lvl="2" indent="457200"/>
            <a:r>
              <a:rPr lang="zh-CN" altLang="en-US"/>
              <a:t>障碍物速度: 0, 1, 3, 5, 10                      (5个)</a:t>
            </a:r>
            <a:endParaRPr lang="zh-CN" altLang="en-US"/>
          </a:p>
          <a:p>
            <a:pPr marL="914400" lvl="2" indent="457200"/>
            <a:r>
              <a:rPr lang="zh-CN" altLang="en-US"/>
              <a:t>ego速度:  10, 15, 20, 25, 30                    (5个)</a:t>
            </a:r>
            <a:endParaRPr lang="zh-CN" altLang="en-US"/>
          </a:p>
          <a:p>
            <a:pPr marL="914400" lvl="2" indent="457200"/>
            <a:r>
              <a:rPr lang="zh-CN" altLang="en-US"/>
              <a:t>总共 8×5×5 = 200 个变体，每个都要跑</a:t>
            </a:r>
            <a:endParaRPr lang="zh-CN" altLang="en-US"/>
          </a:p>
          <a:p>
            <a:pPr marL="914400" lvl="2" indent="457200"/>
            <a:endParaRPr lang="zh-CN" altLang="en-US"/>
          </a:p>
          <a:p>
            <a:pPr marL="914400" lvl="2" indent="457200"/>
            <a:r>
              <a:rPr lang="zh-CN" altLang="en-US"/>
              <a:t>问题：200 个还能跑，如果参数更多呢？比如加上切入角度、反应时间、路面摩擦……指数爆炸，穷举不了。</a:t>
            </a:r>
            <a:endParaRPr lang="zh-CN" altLang="en-US"/>
          </a:p>
          <a:p>
            <a:pPr marL="914400" lvl="2" indent="457200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76555" y="317500"/>
            <a:ext cx="110305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RL</a:t>
            </a:r>
            <a:r>
              <a:rPr lang="zh-CN" altLang="en-US"/>
              <a:t>设计：</a:t>
            </a:r>
            <a:endParaRPr lang="zh-CN" altLang="en-US"/>
          </a:p>
          <a:p>
            <a:pPr indent="457200"/>
            <a:r>
              <a:rPr lang="en-US" altLang="zh-CN"/>
              <a:t>1.</a:t>
            </a:r>
            <a:r>
              <a:rPr lang="zh-CN" altLang="en-US"/>
              <a:t>环境</a:t>
            </a:r>
            <a:endParaRPr lang="zh-CN" altLang="en-US"/>
          </a:p>
          <a:p>
            <a:pPr marL="457200" lvl="1" indent="457200"/>
            <a:r>
              <a:rPr lang="zh-CN" altLang="en-US"/>
              <a:t>状态 = (距离索引, 障碍物速度索引, ego速度索引)</a:t>
            </a:r>
            <a:endParaRPr lang="zh-CN" altLang="en-US"/>
          </a:p>
          <a:p>
            <a:pPr marL="457200" lvl="1" indent="457200"/>
            <a:r>
              <a:rPr lang="zh-CN" altLang="en-US"/>
              <a:t>每个格子存着：这个参数组合下，ISO 15622 ACC 会不会撞（来自之前 200 个变体的 数据）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76605" y="1577975"/>
            <a:ext cx="1106614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动作：可以做</a:t>
            </a:r>
            <a:r>
              <a:rPr lang="en-US" altLang="zh-CN"/>
              <a:t>6</a:t>
            </a:r>
            <a:r>
              <a:rPr lang="zh-CN" altLang="en-US"/>
              <a:t>个动作。</a:t>
            </a:r>
            <a:endParaRPr lang="zh-CN" altLang="en-US"/>
          </a:p>
          <a:p>
            <a:pPr marL="457200" lvl="1" indent="457200"/>
            <a:r>
              <a:rPr lang="en-US" altLang="zh-CN"/>
              <a:t>动作 0: 距离 -1   → 把障碍物挪近 1 </a:t>
            </a:r>
            <a:endParaRPr lang="en-US" altLang="zh-CN"/>
          </a:p>
          <a:p>
            <a:pPr marL="457200" lvl="1" indent="457200"/>
            <a:r>
              <a:rPr lang="en-US" altLang="zh-CN"/>
              <a:t>动作 1: 距离 +1   → 把障碍物挪远 1 </a:t>
            </a:r>
            <a:endParaRPr lang="en-US" altLang="zh-CN"/>
          </a:p>
          <a:p>
            <a:pPr marL="457200" lvl="1" indent="457200"/>
            <a:r>
              <a:rPr lang="en-US" altLang="zh-CN"/>
              <a:t>动作 2: obs速度 -1</a:t>
            </a:r>
            <a:endParaRPr lang="en-US" altLang="zh-CN"/>
          </a:p>
          <a:p>
            <a:pPr marL="457200" lvl="1" indent="457200"/>
            <a:r>
              <a:rPr lang="en-US" altLang="zh-CN"/>
              <a:t>动作 3: obs速度 +1</a:t>
            </a:r>
            <a:endParaRPr lang="en-US" altLang="zh-CN"/>
          </a:p>
          <a:p>
            <a:pPr marL="457200" lvl="1" indent="457200"/>
            <a:r>
              <a:rPr lang="en-US" altLang="zh-CN"/>
              <a:t>动作 4: ego速度 -1</a:t>
            </a:r>
            <a:endParaRPr lang="en-US" altLang="zh-CN"/>
          </a:p>
          <a:p>
            <a:pPr marL="457200" lvl="1" indent="457200"/>
            <a:r>
              <a:rPr lang="en-US" altLang="zh-CN"/>
              <a:t>动作 5: ego速度 +1</a:t>
            </a:r>
            <a:endParaRPr lang="en-US" altLang="zh-CN"/>
          </a:p>
          <a:p>
            <a:pPr marL="457200" lvl="1" indent="457200"/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583565" y="3733165"/>
            <a:ext cx="74949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r>
              <a:rPr lang="zh-CN" altLang="en-US"/>
              <a:t>奖励：找到碰撞:     +10 分  ← 目标！</a:t>
            </a:r>
            <a:endParaRPr lang="zh-CN" altLang="en-US"/>
          </a:p>
          <a:p>
            <a:r>
              <a:rPr lang="en-US" altLang="zh-CN"/>
              <a:t>安全（没撞）:  -1 分  ← 浪费了一次查询</a:t>
            </a:r>
            <a:endParaRPr lang="en-US" altLang="zh-CN"/>
          </a:p>
          <a:p>
            <a:r>
              <a:rPr lang="en-US" altLang="zh-CN"/>
              <a:t>重复访问:     -0.5 分 ← 别老在一个地方打转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3200" y="2607945"/>
            <a:ext cx="6908800" cy="21082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83565" y="5461000"/>
            <a:ext cx="10048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这个只是用已有的 200 个变体数据训练。</a:t>
            </a:r>
            <a:endParaRPr lang="zh-CN" altLang="en-US"/>
          </a:p>
          <a:p>
            <a:r>
              <a:rPr lang="zh-CN" altLang="en-US"/>
              <a:t>我的想法是下一步把它改成让 Agent 直接调 UPPAAL，在更大的参数空间里搜索。想请老师帮我看一下这个方向对不对。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GNjZWExZGIyYjFmY2M5NjI4MGFjNjJhMGZhNjZjYzY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2191</Words>
  <Application>WPS 演示</Application>
  <PresentationFormat>宽屏</PresentationFormat>
  <Paragraphs>91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Consolas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Sbx</dc:creator>
  <cp:lastModifiedBy>孙博学</cp:lastModifiedBy>
  <cp:revision>6</cp:revision>
  <dcterms:created xsi:type="dcterms:W3CDTF">2023-08-09T12:44:00Z</dcterms:created>
  <dcterms:modified xsi:type="dcterms:W3CDTF">2026-08-04T13:56:41Z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2052-12.1.0.18608</vt:lpwstr>
  </property>
</Properties>
</file>